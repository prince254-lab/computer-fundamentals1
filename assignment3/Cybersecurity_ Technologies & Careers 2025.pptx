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3863" y="1746885"/>
            <a:ext cx="64361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2025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2872395" y="2585085"/>
            <a:ext cx="33992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• Threats • Careers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142973" y="3209925"/>
            <a:ext cx="285793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In-Depth Analysis of Modern Cyber Defense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Key Technologies in Cybersecurity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94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420"/>
              </a:lnSpc>
              <a:buSzPct val="100000"/>
              <a:buChar char="•"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Architecture</a:t>
            </a:r>
            <a:pPr indent="0" marL="0">
              <a:lnSpc>
                <a:spcPts val="34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"Never trust, always verify." RBI now mandates this for Indian banks. Verify every user, device, and request—no defaults.[1]</a:t>
            </a:r>
            <a:endParaRPr lang="en-US" sz="1350" dirty="0"/>
          </a:p>
          <a:p>
            <a:pPr marL="342900" indent="-342900">
              <a:lnSpc>
                <a:spcPts val="3420"/>
              </a:lnSpc>
              <a:buSzPct val="100000"/>
              <a:buChar char="•"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Machine Learning</a:t>
            </a:r>
            <a:pPr indent="0" marL="0">
              <a:lnSpc>
                <a:spcPts val="34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Real-time threat detection, but also the attacker's weapon. Market: $93.75B by 2030.[2] 63% of Indian enterprises now using AI-aware security.[3]</a:t>
            </a:r>
            <a:endParaRPr lang="en-US" sz="1350" dirty="0"/>
          </a:p>
          <a:p>
            <a:pPr marL="342900" indent="-342900">
              <a:lnSpc>
                <a:spcPts val="3420"/>
              </a:lnSpc>
              <a:buSzPct val="100000"/>
              <a:buChar char="•"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Security</a:t>
            </a:r>
            <a:pPr indent="0" marL="0">
              <a:lnSpc>
                <a:spcPts val="34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Immutable audit trails for critical infrastructure &amp; financial systems. Tamper-proof record-keeping.</a:t>
            </a:r>
            <a:endParaRPr lang="en-US" sz="1350" dirty="0"/>
          </a:p>
          <a:p>
            <a:pPr marL="342900" indent="-342900">
              <a:lnSpc>
                <a:spcPts val="3420"/>
              </a:lnSpc>
              <a:buSzPct val="100000"/>
              <a:buChar char="•"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Quantum-Resistant Encryption</a:t>
            </a:r>
            <a:pPr indent="0" marL="0">
              <a:lnSpc>
                <a:spcPts val="34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Preparing for quantum computers that could break current encryption. Lattice-based algorithms being standardized now.[4]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Emerging Threats in 2025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294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420"/>
              </a:lnSpc>
              <a:buSzPct val="100000"/>
              <a:buChar char="•"/>
            </a:pPr>
            <a:r>
              <a:rPr lang="en-US" sz="13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Attacks</a:t>
            </a:r>
            <a:pPr indent="0" marL="0">
              <a:lnSpc>
                <a:spcPts val="34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Polymorphic malware that mutates to evade signatures. WormGPT &amp; FraudGPT (criminal AI) creating convincing phishing emails at scale.[5]</a:t>
            </a:r>
            <a:endParaRPr lang="en-US" sz="1350" dirty="0"/>
          </a:p>
          <a:p>
            <a:pPr marL="342900" indent="-342900">
              <a:lnSpc>
                <a:spcPts val="3420"/>
              </a:lnSpc>
              <a:buSzPct val="100000"/>
              <a:buChar char="•"/>
            </a:pPr>
            <a:r>
              <a:rPr lang="en-US" sz="13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 Surge</a:t>
            </a:r>
            <a:pPr indent="0" marL="0">
              <a:lnSpc>
                <a:spcPts val="34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4,701 incidents in 2025; 50% targeting hospitals, power grids, financial systems. Average cost: $9.77M per incident in 2024.[6]</a:t>
            </a:r>
            <a:endParaRPr lang="en-US" sz="1350" dirty="0"/>
          </a:p>
          <a:p>
            <a:pPr marL="342900" indent="-342900">
              <a:lnSpc>
                <a:spcPts val="3420"/>
              </a:lnSpc>
              <a:buSzPct val="100000"/>
              <a:buChar char="•"/>
            </a:pPr>
            <a:r>
              <a:rPr lang="en-US" sz="13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Attacks</a:t>
            </a:r>
            <a:pPr indent="0" marL="0">
              <a:lnSpc>
                <a:spcPts val="34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Hackers targeting smaller vendors to breach larger enterprises. Change Healthcare attack: 192+ million people affected (2024).</a:t>
            </a:r>
            <a:endParaRPr lang="en-US" sz="1350" dirty="0"/>
          </a:p>
          <a:p>
            <a:pPr marL="342900" indent="-342900">
              <a:lnSpc>
                <a:spcPts val="3420"/>
              </a:lnSpc>
              <a:buSzPct val="100000"/>
              <a:buChar char="•"/>
            </a:pPr>
            <a:r>
              <a:rPr lang="en-US" sz="13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 &amp; Voice Cloning</a:t>
            </a:r>
            <a:pPr indent="0" marL="0">
              <a:lnSpc>
                <a:spcPts val="34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AI creating fake videos of CEOs authorizing fraudulent transactions. $25.6M in deepfake-related fraud reported in 2025.[7]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84960"/>
            <a:ext cx="7924800" cy="135469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92053"/>
            <a:ext cx="7924800" cy="135469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🇮🇳 Indian Case: AIIMS Delhi Ransomware (Nov 2022)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81356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8200" y="2103120"/>
            <a:ext cx="7467600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LockBit ransomware targeted AIIMS (one of India's premier medical institutions) • 1.3TB of sensitive data encrypted • 40 million patient records exposed, including medical histories, PAN/Aadhaar data • Attackers demanded ₹200 crore (~$24.5M)[8]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838200" y="3320653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Consequences: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3610215"/>
            <a:ext cx="7467600" cy="60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paralyzed for 6+ days • Emergency services went offline • Surgeries postponed • Patient trust shattered • Critical lesson: Even India's best hospitals aren't immune. This exposed the healthcare sector's cybersecurity gaps nation-wide.[9]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0"/>
            <a:ext cx="7924800" cy="11734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99361"/>
            <a:ext cx="7924800" cy="9601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Global Case: A.P. Møller-Maersk (June 2017)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0208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8200" y="1691641"/>
            <a:ext cx="746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NotPetya ransomware using EternalBlue &amp; Mimikatz • Infected 10,000 computers/hour • Paralyzed 17 of 76 international ports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727961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301752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trade disruption • NHS, FedEx, Merck, Mondelēz affected • Estimated $10B+ in damages worldwide[5]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123729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86978"/>
            <a:ext cx="7924800" cy="123729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724275"/>
            <a:ext cx="7924800" cy="123729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High-Demand Career Roles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8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Security Analyst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1874520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do:</a:t>
            </a:r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Monitor networks 24/7, spot suspicious activity, respond to alerts.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38200" y="2066448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Growth:</a:t>
            </a:r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19% expected. Why? Companies need round-the-clock watchers.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38200" y="2715578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Ethical Hacker/Pen Tester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38200" y="3111817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do:</a:t>
            </a:r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Legally break into systems to find vulnerabilities before attackers do.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38200" y="3303747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Salary:</a:t>
            </a:r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₹10-30L+ (high demand, competitive). 17% growth.[10]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38200" y="3952875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Incident Responder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38200" y="4349116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do:</a:t>
            </a:r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Jump into active breaches, contain damage, recover systems.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38200" y="4541044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Explosive demand:</a:t>
            </a:r>
            <a:pPr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Role grew 100.89% in 2024. Critical during crises.[11]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249900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748683"/>
            <a:ext cx="7924800" cy="249900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The Global Skills Crisis &amp; What to Learn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8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The Crisis: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1828800"/>
            <a:ext cx="7239000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 million unfilled cybersecurity jobs globally[12]</a:t>
            </a:r>
            <a:endParaRPr lang="en-US" sz="108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security: 30% skills gap[13]</a:t>
            </a:r>
            <a:endParaRPr lang="en-US" sz="108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Trust: 27% skills gap</a:t>
            </a:r>
            <a:endParaRPr lang="en-US" sz="108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Breaches cost $1.76M MORE at under-staffed firms</a:t>
            </a:r>
            <a:endParaRPr lang="en-US" sz="108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 of all cybersecurity roles currently filled (gap widening)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838200" y="3977283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What Companies Want: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6800" y="4327803"/>
            <a:ext cx="7239000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&amp; Windows admin</a:t>
            </a:r>
            <a:pPr indent="0" marL="0">
              <a:lnSpc>
                <a:spcPts val="259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(OS fundamentals)</a:t>
            </a:r>
            <a:endParaRPr lang="en-US" sz="108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analysis</a:t>
            </a:r>
            <a:pPr indent="0" marL="0">
              <a:lnSpc>
                <a:spcPts val="259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(Wireshark, packet inspection)</a:t>
            </a:r>
            <a:endParaRPr lang="en-US" sz="108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security</a:t>
            </a:r>
            <a:pPr indent="0" marL="0">
              <a:lnSpc>
                <a:spcPts val="259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(AWS, Azure, GCP)</a:t>
            </a:r>
            <a:endParaRPr lang="en-US" sz="108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modeling</a:t>
            </a:r>
            <a:pPr indent="0" marL="0">
              <a:lnSpc>
                <a:spcPts val="259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(MITRE ATT&amp;CK)</a:t>
            </a:r>
            <a:endParaRPr lang="en-US" sz="108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CISSP, CEH, or Security+</a:t>
            </a:r>
            <a:pPr indent="0" marL="0">
              <a:lnSpc>
                <a:spcPts val="259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certification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42709" y="1002030"/>
            <a:ext cx="46585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Cybersecurity Journey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653465" y="1642111"/>
            <a:ext cx="583695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ctr" indent="0" marL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threat is real:</a:t>
            </a:r>
            <a:pPr algn="ctr"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4.8M job openings, 50% of infrastructure under attack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20414" y="1958341"/>
            <a:ext cx="630305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ctr" indent="0" marL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massive:</a:t>
            </a:r>
            <a:pPr algn="ctr"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 salaries, global impact, continuous learning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148712" y="2274573"/>
            <a:ext cx="484657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ctr" indent="0" marL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 is now:</a:t>
            </a:r>
            <a:pPr algn="ctr"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Skills gap = YOUR competitive advantage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733981" y="2743200"/>
            <a:ext cx="567603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small: Learn Linux → Networking → Cloud Security → Certifications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9600" y="3288032"/>
            <a:ext cx="7924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RBI Financial Stability Report 2025 | [2] Grand View Research 2024 | [3] Lenovo CIO Playbook 2025 | [4] NIST Quantum-Resistant Standards | [5] Deep Strike 2025 | [6] IBM 2024 Breach Report | [7] Deepfake Fraud Report 2025 | [8] AIIMS Incident Report | [9] Indian Police Cyber Crime Bureau | [10] PayScale 2025 | [11] CyberSN Incident Response Report 2024 | [12] ISC² Workforce Study | [13] ISC² Cloud Security Skills Gap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2025-11-23T09:25:01Z</dcterms:created>
  <dcterms:modified xsi:type="dcterms:W3CDTF">2025-11-23T09:25:01Z</dcterms:modified>
</cp:coreProperties>
</file>